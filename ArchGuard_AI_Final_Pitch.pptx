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307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1639F"/>
    <a:srgbClr val="205E97"/>
    <a:srgbClr val="11324F"/>
    <a:srgbClr val="153B61"/>
    <a:srgbClr val="10304C"/>
    <a:srgbClr val="163E65"/>
    <a:srgbClr val="1D5181"/>
    <a:srgbClr val="02B0F0"/>
    <a:srgbClr val="21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7" autoAdjust="0"/>
    <p:restoredTop sz="92597" autoAdjust="0"/>
  </p:normalViewPr>
  <p:slideViewPr>
    <p:cSldViewPr snapToGrid="0">
      <p:cViewPr varScale="1">
        <p:scale>
          <a:sx n="97" d="100"/>
          <a:sy n="97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A3840-443F-490B-8D62-662020B0264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8C435-A5CC-42A6-A577-231BFD33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76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8C435-A5CC-42A6-A577-231BFD3372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1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353E1-9309-83B9-59DF-92BB6C63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BAF31-4689-867E-D8D0-2281B349C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567F7-6FF9-D536-D500-D6D5B086C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9F520-D37D-19ED-DAFA-6B414F91A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8C435-A5CC-42A6-A577-231BFD3372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18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8B37-106B-0E67-F1A9-19D50074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C6D0D-4838-41FD-C674-0C2F92E64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46121-2CD9-D9E0-8890-7F425612D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B75D2-F8CF-6C06-56BF-3F2CDD974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8C435-A5CC-42A6-A577-231BFD3372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26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794F-B074-8CAA-7A93-844365857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D109E-F6FB-0570-DCA6-FA1350FD7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7BF60-A118-CA0B-FDDD-6A76FAFBB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47A3D-ABF6-CD07-E9D6-25F70D339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09783-4B16-F717-F36F-BF1E6D3B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2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B227-31FA-2F37-ECF6-B43954CA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064CC-4C19-6E82-4195-E291E7B46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60FCD-23DC-EB5C-3484-551FD61F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42430-66A7-EE29-143C-E35334DF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C4702-5211-835F-7002-92012DF3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1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BDFA-C57C-DDDE-A40A-586DD0DE6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08682-C411-CDFE-52DA-195F3BBE6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663F2-5344-79CE-FF79-8408F0B1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CD95B-237C-C5E8-F65C-FFB83340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25F66-9AD7-456E-E69F-5739D0CE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54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FB12-C2C3-03F8-59DF-9D353FF4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51960-8547-6D02-A40B-86154335A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680C9-FDD3-E67E-DABA-9BCB8CF14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6D5D4-56CF-F3EC-7664-A80C05AAE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6DAE1-0D10-17CD-9CD0-B6C06CD7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42E39-970C-ECA5-2025-720A8CE1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97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92FE9-10EA-2C9F-E3A0-A04CFDD9E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1741F-A80A-A13E-B141-5718564A0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55D3A-8AFA-3A66-46DF-193A2D073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8CC68-9D87-8EE0-5C2B-3BCB762A1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05AE8-5210-2296-D20A-8CC545936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CEE2C3-4DDB-C7DB-8BB9-2C6DF464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90F6E8-6DBB-C851-6200-8292F7AB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73A65-CFE9-70D8-BD66-EF1BE974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3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5331-8CEC-0A64-59B9-D2F98DDD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54D1B-562A-170A-35A4-3DE8BCBF2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C115C-6985-0275-3339-08005A441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C861F-D66A-BB52-C687-F6E68FF8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7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58248-9F12-851D-8FAF-64DB9651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80F972-324F-7698-3B9F-D4538837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C3CC3-721E-A4DE-2E28-0BA12FF4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8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627F-F533-406D-A246-35D86595C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1B656-A495-9CEA-3D3E-8EE89525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D2645-7473-5B67-E7E3-AD9E96369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1E5AC-168E-FEAD-DD04-03A96E111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AFD1E-543D-717B-EAD4-9ABEB79A7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28978-73C8-6954-D8B3-DB5AD885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48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2D33-90CC-E589-8371-ABDB6BEDD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4524EA-896F-E7D1-6B9C-E75214D3A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CC85B-2B60-43E7-16A8-81B02A195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1713-E812-5F99-AF77-87B4AD46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A31B5-9895-1A28-382E-6066C1B53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6A208-1B1D-B413-DA3B-AC7D2984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9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6674-FCE9-DD6C-1173-71EE5D0E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AC073E-9D3A-66C4-2285-906A3D2ED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74E8-04D2-F5C4-3DB2-32FBC4EB1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27344-0772-DDDC-A90D-A38C8689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2AE35-9530-BEB2-B6B1-A68A56D2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0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D268B-61B5-4C47-B6FE-958951B877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1C715-C957-3AA8-98D7-DE939046E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236BC-A0E5-0827-9519-65519323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9BAD4-63C2-A975-3C81-B921B227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42428-7167-9CEE-C117-53AF3DAF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18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308599-1EB4-683B-1F39-F4D7D8634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032E8-3BD0-CE38-793A-CFF81CFF2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53CB2-04B3-ABF7-6306-6DC407187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8B791-7E12-47E8-AB3D-4EEF0517D5F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9C356-2C41-54B2-88DB-B7453E450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9D91D-B16D-939F-492D-5248BD862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58621-3844-416D-9A14-3213D2461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9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hamedElNoby/archguard-a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0A9BB-B366-6AE5-88F7-D6EF63980120}"/>
              </a:ext>
            </a:extLst>
          </p:cNvPr>
          <p:cNvSpPr/>
          <p:nvPr/>
        </p:nvSpPr>
        <p:spPr>
          <a:xfrm flipV="1">
            <a:off x="0" y="5020676"/>
            <a:ext cx="7594169" cy="1837324"/>
          </a:xfrm>
          <a:prstGeom prst="rect">
            <a:avLst/>
          </a:prstGeom>
          <a:gradFill>
            <a:gsLst>
              <a:gs pos="100000">
                <a:srgbClr val="163E65"/>
              </a:gs>
              <a:gs pos="23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  <a:effectLst>
            <a:outerShdw blurRad="50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471F80-30FB-61D0-7C0C-E20711FBED89}"/>
              </a:ext>
            </a:extLst>
          </p:cNvPr>
          <p:cNvSpPr txBox="1">
            <a:spLocks/>
          </p:cNvSpPr>
          <p:nvPr/>
        </p:nvSpPr>
        <p:spPr>
          <a:xfrm>
            <a:off x="0" y="5020675"/>
            <a:ext cx="7532176" cy="1803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>
                <a:solidFill>
                  <a:schemeClr val="bg1"/>
                </a:solidFill>
              </a:rPr>
              <a:t>ARCHGUARD AI</a:t>
            </a:r>
            <a:endParaRPr lang="en-US" sz="6000" b="1" spc="-300" dirty="0">
              <a:solidFill>
                <a:schemeClr val="bg1"/>
              </a:solidFill>
              <a:effectLst>
                <a:outerShdw blurRad="177800" dist="38100" dir="2700000" algn="tl">
                  <a:srgbClr val="000000">
                    <a:alpha val="43137"/>
                  </a:srgbClr>
                </a:outerShdw>
              </a:effectLst>
              <a:latin typeface="Gill Sans MT" panose="020B05020201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8FAE3-EACB-59C1-9D96-40B7601E61E6}"/>
              </a:ext>
            </a:extLst>
          </p:cNvPr>
          <p:cNvSpPr txBox="1"/>
          <p:nvPr/>
        </p:nvSpPr>
        <p:spPr>
          <a:xfrm>
            <a:off x="480446" y="666426"/>
            <a:ext cx="21542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Arial Black" panose="020B0A04020102020204" pitchFamily="34" charset="0"/>
              </a:rPr>
              <a:t>GenAI for Education Hackathon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6CF8D-4456-D8AE-8340-0C62CE970E1A}"/>
              </a:ext>
            </a:extLst>
          </p:cNvPr>
          <p:cNvSpPr txBox="1"/>
          <p:nvPr/>
        </p:nvSpPr>
        <p:spPr>
          <a:xfrm>
            <a:off x="2634710" y="1069383"/>
            <a:ext cx="4897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>
                <a:solidFill>
                  <a:schemeClr val="bg1"/>
                </a:solidFill>
              </a:rPr>
              <a:t>Automated Adversarial Architecture Review Platform</a:t>
            </a:r>
          </a:p>
        </p:txBody>
      </p:sp>
    </p:spTree>
    <p:extLst>
      <p:ext uri="{BB962C8B-B14F-4D97-AF65-F5344CB8AC3E}">
        <p14:creationId xmlns:p14="http://schemas.microsoft.com/office/powerpoint/2010/main" val="2214895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90000"/>
                <a:lumOff val="10000"/>
              </a:schemeClr>
            </a:gs>
            <a:gs pos="35000">
              <a:schemeClr val="tx2">
                <a:lumMod val="75000"/>
                <a:lumOff val="25000"/>
              </a:scheme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B929F-1DD9-5E14-8D2A-832B9C41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CA6D42-94C4-E8F2-6919-FF902AAC6A61}"/>
              </a:ext>
            </a:extLst>
          </p:cNvPr>
          <p:cNvSpPr/>
          <p:nvPr/>
        </p:nvSpPr>
        <p:spPr>
          <a:xfrm>
            <a:off x="-2148" y="1852361"/>
            <a:ext cx="12192000" cy="5005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8AE47-41E8-C81D-DD6E-C1CFC5DF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pc="-300" dirty="0">
                <a:solidFill>
                  <a:schemeClr val="bg1"/>
                </a:solidFill>
                <a:effectLst>
                  <a:outerShdw blurRad="139700" algn="ctr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rPr>
              <a:t>this presentation was made possible by,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8429E7-9ABB-AB61-30DC-D778720D3F21}"/>
              </a:ext>
            </a:extLst>
          </p:cNvPr>
          <p:cNvSpPr txBox="1"/>
          <p:nvPr/>
        </p:nvSpPr>
        <p:spPr>
          <a:xfrm>
            <a:off x="184729" y="282263"/>
            <a:ext cx="12301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spc="2500" dirty="0">
                <a:solidFill>
                  <a:schemeClr val="bg1">
                    <a:alpha val="3000"/>
                  </a:schemeClr>
                </a:solidFill>
              </a:rPr>
              <a:t>CSE 332s – SOFTWARE ENGINEERING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E0CC25-7F80-71F8-C000-DDB10B64BE1A}"/>
              </a:ext>
            </a:extLst>
          </p:cNvPr>
          <p:cNvSpPr/>
          <p:nvPr/>
        </p:nvSpPr>
        <p:spPr>
          <a:xfrm rot="10800000">
            <a:off x="11563084" y="1852361"/>
            <a:ext cx="628916" cy="57111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180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16F9DE-2EC4-49FB-626C-D541DB4C285A}"/>
              </a:ext>
            </a:extLst>
          </p:cNvPr>
          <p:cNvSpPr/>
          <p:nvPr/>
        </p:nvSpPr>
        <p:spPr>
          <a:xfrm>
            <a:off x="13092" y="6286890"/>
            <a:ext cx="628916" cy="57111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E6E6E6"/>
              </a:gs>
            </a:gsLst>
            <a:lin ang="180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EB6E78-22E6-1A19-2DE6-B5317F8EFC15}"/>
              </a:ext>
            </a:extLst>
          </p:cNvPr>
          <p:cNvSpPr/>
          <p:nvPr/>
        </p:nvSpPr>
        <p:spPr>
          <a:xfrm>
            <a:off x="0" y="1600200"/>
            <a:ext cx="12192000" cy="245468"/>
          </a:xfrm>
          <a:prstGeom prst="rect">
            <a:avLst/>
          </a:prstGeom>
          <a:gradFill>
            <a:gsLst>
              <a:gs pos="100000">
                <a:srgbClr val="123452"/>
              </a:gs>
              <a:gs pos="23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  <a:effectLst>
            <a:outerShdw blurRad="3683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B65A9A-F6A9-29A8-818B-7AD7D6670667}"/>
              </a:ext>
            </a:extLst>
          </p:cNvPr>
          <p:cNvSpPr/>
          <p:nvPr/>
        </p:nvSpPr>
        <p:spPr>
          <a:xfrm>
            <a:off x="1890793" y="2423470"/>
            <a:ext cx="8617058" cy="3863419"/>
          </a:xfrm>
          <a:prstGeom prst="rect">
            <a:avLst/>
          </a:prstGeom>
          <a:gradFill>
            <a:gsLst>
              <a:gs pos="0">
                <a:schemeClr val="tx2">
                  <a:lumMod val="90000"/>
                  <a:lumOff val="10000"/>
                </a:schemeClr>
              </a:gs>
              <a:gs pos="35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4B92A7-1637-1B08-F087-817A82C54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78473"/>
              </p:ext>
            </p:extLst>
          </p:nvPr>
        </p:nvGraphicFramePr>
        <p:xfrm>
          <a:off x="1890793" y="2449560"/>
          <a:ext cx="8617058" cy="39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7058">
                  <a:extLst>
                    <a:ext uri="{9D8B030D-6E8A-4147-A177-3AD203B41FA5}">
                      <a16:colId xmlns:a16="http://schemas.microsoft.com/office/drawing/2014/main" val="2123906173"/>
                    </a:ext>
                  </a:extLst>
                </a:gridCol>
              </a:tblGrid>
              <a:tr h="5261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NAME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963389"/>
                  </a:ext>
                </a:extLst>
              </a:tr>
              <a:tr h="693857">
                <a:tc>
                  <a:txBody>
                    <a:bodyPr/>
                    <a:lstStyle/>
                    <a:p>
                      <a:pPr algn="ctr"/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Mohamed Ibrahim El-</a:t>
                      </a:r>
                      <a:r>
                        <a:rPr lang="en-GB" sz="3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Noby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18706"/>
                  </a:ext>
                </a:extLst>
              </a:tr>
              <a:tr h="693857">
                <a:tc>
                  <a:txBody>
                    <a:bodyPr/>
                    <a:lstStyle/>
                    <a:p>
                      <a:pPr algn="ctr"/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Walaa Omar Hassan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689964"/>
                  </a:ext>
                </a:extLst>
              </a:tr>
              <a:tr h="693857">
                <a:tc>
                  <a:txBody>
                    <a:bodyPr/>
                    <a:lstStyle/>
                    <a:p>
                      <a:pPr algn="ctr"/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Mariam Tarek Hamada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383528"/>
                  </a:ext>
                </a:extLst>
              </a:tr>
              <a:tr h="693857">
                <a:tc>
                  <a:txBody>
                    <a:bodyPr/>
                    <a:lstStyle/>
                    <a:p>
                      <a:pPr algn="ctr"/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Malak Adel Fouad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941288"/>
                  </a:ext>
                </a:extLst>
              </a:tr>
              <a:tr h="693857">
                <a:tc>
                  <a:txBody>
                    <a:bodyPr/>
                    <a:lstStyle/>
                    <a:p>
                      <a:pPr algn="ctr"/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Rahma Mohamed Sayed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569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26773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90000"/>
                <a:lumOff val="10000"/>
              </a:schemeClr>
            </a:gs>
            <a:gs pos="35000">
              <a:schemeClr val="tx2">
                <a:lumMod val="75000"/>
                <a:lumOff val="25000"/>
              </a:schemeClr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63BA6-3EF0-389A-6AC0-92F5256D0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EAB2-CA8E-F20D-858A-61D9864EF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82086"/>
          </a:xfrm>
        </p:spPr>
        <p:txBody>
          <a:bodyPr>
            <a:normAutofit/>
          </a:bodyPr>
          <a:lstStyle/>
          <a:p>
            <a:pPr algn="ctr"/>
            <a:r>
              <a:rPr lang="en-GB" sz="6000" dirty="0">
                <a:solidFill>
                  <a:schemeClr val="bg1"/>
                </a:solidFill>
              </a:rPr>
              <a:t>PROBLEM</a:t>
            </a:r>
            <a:endParaRPr lang="en-US" sz="6000" b="1" spc="2000" dirty="0">
              <a:solidFill>
                <a:schemeClr val="bg1"/>
              </a:solidFill>
              <a:effectLst>
                <a:outerShdw blurRad="139700" algn="ctr" rotWithShape="0">
                  <a:prstClr val="black">
                    <a:alpha val="40000"/>
                  </a:prstClr>
                </a:outerShdw>
              </a:effectLst>
              <a:latin typeface="Gill Sans MT" panose="020B0502020104020203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2C3B7F-9F55-1F10-73CC-F81106060C1E}"/>
              </a:ext>
            </a:extLst>
          </p:cNvPr>
          <p:cNvSpPr txBox="1">
            <a:spLocks/>
          </p:cNvSpPr>
          <p:nvPr/>
        </p:nvSpPr>
        <p:spPr>
          <a:xfrm>
            <a:off x="0" y="1155570"/>
            <a:ext cx="12192000" cy="57024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b="1" spc="-300" dirty="0">
              <a:effectLst>
                <a:outerShdw blurRad="139700" algn="ctr" rotWithShape="0">
                  <a:prstClr val="black">
                    <a:alpha val="40000"/>
                  </a:prstClr>
                </a:outerShdw>
              </a:effectLst>
              <a:highlight>
                <a:srgbClr val="FFFFFF"/>
              </a:highlight>
              <a:latin typeface="Gill Sans MT" panose="020B05020201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398039F-A281-B3A9-9CD5-6FDC83F99C7D}"/>
              </a:ext>
            </a:extLst>
          </p:cNvPr>
          <p:cNvSpPr txBox="1">
            <a:spLocks/>
          </p:cNvSpPr>
          <p:nvPr/>
        </p:nvSpPr>
        <p:spPr>
          <a:xfrm>
            <a:off x="4847602" y="3065435"/>
            <a:ext cx="8295640" cy="507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-300" dirty="0">
                <a:solidFill>
                  <a:srgbClr val="156082"/>
                </a:solidFill>
                <a:effectLst>
                  <a:outerShdw blurRad="139700" algn="ctr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rPr>
              <a:t>      </a:t>
            </a:r>
            <a:endParaRPr lang="en-US" sz="3200" b="1" spc="-300" dirty="0">
              <a:effectLst>
                <a:outerShdw blurRad="139700" algn="ctr" rotWithShape="0">
                  <a:prstClr val="black">
                    <a:alpha val="40000"/>
                  </a:prstClr>
                </a:outerShdw>
              </a:effectLst>
              <a:latin typeface="Gill Sans MT" panose="020B0502020104020203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7B69ACE-7B5A-A151-26DA-AD3EF62FA5C4}"/>
              </a:ext>
            </a:extLst>
          </p:cNvPr>
          <p:cNvSpPr txBox="1">
            <a:spLocks/>
          </p:cNvSpPr>
          <p:nvPr/>
        </p:nvSpPr>
        <p:spPr>
          <a:xfrm>
            <a:off x="4847602" y="4305591"/>
            <a:ext cx="8181340" cy="507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-150" dirty="0">
                <a:effectLst>
                  <a:outerShdw blurRad="139700" algn="ctr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rPr>
              <a:t>     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454BF9E6-9CC4-DA58-F78A-4516F6F8DBB6}"/>
              </a:ext>
            </a:extLst>
          </p:cNvPr>
          <p:cNvSpPr txBox="1">
            <a:spLocks/>
          </p:cNvSpPr>
          <p:nvPr/>
        </p:nvSpPr>
        <p:spPr>
          <a:xfrm>
            <a:off x="4994904" y="4898368"/>
            <a:ext cx="8270044" cy="4781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600" dirty="0">
                <a:solidFill>
                  <a:srgbClr val="156082"/>
                </a:solidFill>
                <a:effectLst>
                  <a:outerShdw blurRad="139700" algn="ctr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rPr>
              <a:t> </a:t>
            </a:r>
            <a:endParaRPr lang="en-US" sz="3200" b="1" spc="-150" dirty="0">
              <a:effectLst>
                <a:outerShdw blurRad="139700" algn="ctr" rotWithShape="0">
                  <a:prstClr val="black">
                    <a:alpha val="40000"/>
                  </a:prstClr>
                </a:outerShdw>
              </a:effectLst>
              <a:latin typeface="Gill Sans MT" panose="020B05020201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8DC3283-FB76-0938-1FB4-D19DC51FEC49}"/>
              </a:ext>
            </a:extLst>
          </p:cNvPr>
          <p:cNvSpPr txBox="1">
            <a:spLocks/>
          </p:cNvSpPr>
          <p:nvPr/>
        </p:nvSpPr>
        <p:spPr>
          <a:xfrm>
            <a:off x="4891486" y="5443803"/>
            <a:ext cx="8181340" cy="507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-150" dirty="0">
                <a:effectLst>
                  <a:outerShdw blurRad="139700" algn="ctr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rPr>
              <a:t>    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989DFFA-B2FB-B002-4F68-960AA2FFDE92}"/>
              </a:ext>
            </a:extLst>
          </p:cNvPr>
          <p:cNvSpPr txBox="1">
            <a:spLocks/>
          </p:cNvSpPr>
          <p:nvPr/>
        </p:nvSpPr>
        <p:spPr>
          <a:xfrm>
            <a:off x="4983924" y="6036580"/>
            <a:ext cx="8270044" cy="4781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600" dirty="0">
                <a:solidFill>
                  <a:srgbClr val="156082"/>
                </a:solidFill>
                <a:effectLst>
                  <a:outerShdw blurRad="139700" algn="ctr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rPr>
              <a:t>  </a:t>
            </a:r>
            <a:endParaRPr lang="en-US" sz="3200" b="1" spc="-150" dirty="0">
              <a:effectLst>
                <a:outerShdw blurRad="139700" algn="ctr" rotWithShape="0">
                  <a:prstClr val="black">
                    <a:alpha val="40000"/>
                  </a:prstClr>
                </a:outerShdw>
              </a:effectLst>
              <a:latin typeface="Gill Sans MT" panose="020B0502020104020203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26E651-2882-95D2-F11C-8B6FD3BB804A}"/>
              </a:ext>
            </a:extLst>
          </p:cNvPr>
          <p:cNvCxnSpPr/>
          <p:nvPr/>
        </p:nvCxnSpPr>
        <p:spPr>
          <a:xfrm>
            <a:off x="0" y="1582087"/>
            <a:ext cx="1219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72B3AAE-13B6-39B5-A856-CB12D7613569}"/>
              </a:ext>
            </a:extLst>
          </p:cNvPr>
          <p:cNvSpPr/>
          <p:nvPr/>
        </p:nvSpPr>
        <p:spPr>
          <a:xfrm>
            <a:off x="0" y="1582087"/>
            <a:ext cx="12192000" cy="52759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3804C0-1BBB-82A6-B4BE-E388ED03286D}"/>
              </a:ext>
            </a:extLst>
          </p:cNvPr>
          <p:cNvSpPr txBox="1"/>
          <p:nvPr/>
        </p:nvSpPr>
        <p:spPr>
          <a:xfrm>
            <a:off x="0" y="1952786"/>
            <a:ext cx="6096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• Late Discovery</a:t>
            </a:r>
          </a:p>
          <a:p>
            <a:r>
              <a:rPr lang="en-GB" sz="2000" dirty="0"/>
              <a:t>Architectural flaws are often discovered after significant development effort.</a:t>
            </a:r>
          </a:p>
          <a:p>
            <a:endParaRPr lang="en-GB" sz="2000" dirty="0"/>
          </a:p>
          <a:p>
            <a:r>
              <a:rPr lang="en-GB" sz="2000" dirty="0"/>
              <a:t>• Evaluation Gap</a:t>
            </a:r>
          </a:p>
          <a:p>
            <a:r>
              <a:rPr lang="en-GB" sz="2000" dirty="0"/>
              <a:t>Students lack an interactive environment to stress-test their architecture before the final </a:t>
            </a:r>
            <a:r>
              <a:rPr lang="en-GB" sz="2000" dirty="0" err="1"/>
              <a:t>defense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r>
              <a:rPr lang="en-GB" sz="2000" dirty="0"/>
              <a:t>• Manual Bottlenecks</a:t>
            </a:r>
          </a:p>
          <a:p>
            <a:r>
              <a:rPr lang="en-GB" sz="2000" dirty="0"/>
              <a:t>Architecture reviews depend on limited expert time and may miss cross-functional risks.</a:t>
            </a:r>
          </a:p>
          <a:p>
            <a:endParaRPr lang="en-GB" sz="2000" dirty="0"/>
          </a:p>
          <a:p>
            <a:r>
              <a:rPr lang="en-GB" sz="2000" dirty="0"/>
              <a:t>• Static Feedback</a:t>
            </a:r>
          </a:p>
          <a:p>
            <a:r>
              <a:rPr lang="en-GB" sz="2000" dirty="0"/>
              <a:t>Traditional reviews provide feedback, but rarely challenge the designer interactively.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8285FA-A995-29A9-4F1D-9C32848FE41C}"/>
              </a:ext>
            </a:extLst>
          </p:cNvPr>
          <p:cNvSpPr txBox="1"/>
          <p:nvPr/>
        </p:nvSpPr>
        <p:spPr>
          <a:xfrm>
            <a:off x="6096000" y="1952785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ARCHITECTURE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C6F983A1-145B-0ED4-7362-F5C7016E7567}"/>
              </a:ext>
            </a:extLst>
          </p:cNvPr>
          <p:cNvSpPr/>
          <p:nvPr/>
        </p:nvSpPr>
        <p:spPr>
          <a:xfrm>
            <a:off x="9129926" y="2479729"/>
            <a:ext cx="91566" cy="2579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B4A906-7619-C71F-6261-8FC01B7FE9C1}"/>
              </a:ext>
            </a:extLst>
          </p:cNvPr>
          <p:cNvSpPr txBox="1"/>
          <p:nvPr/>
        </p:nvSpPr>
        <p:spPr>
          <a:xfrm>
            <a:off x="6127709" y="2764789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DEVELOPMENT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5BF5BBC9-0D29-CA6F-894A-23BF2CB04799}"/>
              </a:ext>
            </a:extLst>
          </p:cNvPr>
          <p:cNvSpPr/>
          <p:nvPr/>
        </p:nvSpPr>
        <p:spPr>
          <a:xfrm>
            <a:off x="9144000" y="3130952"/>
            <a:ext cx="77492" cy="3232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EE9022-97DE-19B3-1587-EE943E6D78AB}"/>
              </a:ext>
            </a:extLst>
          </p:cNvPr>
          <p:cNvSpPr txBox="1"/>
          <p:nvPr/>
        </p:nvSpPr>
        <p:spPr>
          <a:xfrm>
            <a:off x="6080146" y="3538495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HIDDEN FLAW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A199D70C-C597-80FA-7BCC-87A0AFD687F7}"/>
              </a:ext>
            </a:extLst>
          </p:cNvPr>
          <p:cNvSpPr/>
          <p:nvPr/>
        </p:nvSpPr>
        <p:spPr>
          <a:xfrm>
            <a:off x="9144000" y="4000160"/>
            <a:ext cx="77492" cy="233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965103-B23C-FCAA-6A00-E65A2F88E89C}"/>
              </a:ext>
            </a:extLst>
          </p:cNvPr>
          <p:cNvSpPr txBox="1"/>
          <p:nvPr/>
        </p:nvSpPr>
        <p:spPr>
          <a:xfrm>
            <a:off x="6317786" y="4289677"/>
            <a:ext cx="5807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LATE DISCOVERY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3DCCA309-2EEA-2670-518D-C7FA8DF7F180}"/>
              </a:ext>
            </a:extLst>
          </p:cNvPr>
          <p:cNvSpPr/>
          <p:nvPr/>
        </p:nvSpPr>
        <p:spPr>
          <a:xfrm>
            <a:off x="9129926" y="4813465"/>
            <a:ext cx="91565" cy="3422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1136CD-6AD0-5627-4AAA-B82892F03088}"/>
              </a:ext>
            </a:extLst>
          </p:cNvPr>
          <p:cNvSpPr txBox="1"/>
          <p:nvPr/>
        </p:nvSpPr>
        <p:spPr>
          <a:xfrm>
            <a:off x="6284117" y="5247359"/>
            <a:ext cx="5703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EXPENSIVE FIX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3666AB2-C9E9-044C-FC73-A87B94848882}"/>
              </a:ext>
            </a:extLst>
          </p:cNvPr>
          <p:cNvCxnSpPr/>
          <p:nvPr/>
        </p:nvCxnSpPr>
        <p:spPr>
          <a:xfrm>
            <a:off x="6540285" y="1952785"/>
            <a:ext cx="0" cy="399889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91193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3" grpId="0"/>
      <p:bldP spid="36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88B007-C3E2-4412-102E-AD048541C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43790"/>
            <a:ext cx="7150309" cy="501421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• The Concept</a:t>
            </a:r>
          </a:p>
          <a:p>
            <a:pPr marL="0" indent="0">
              <a:buNone/>
            </a:pPr>
            <a:r>
              <a:rPr lang="en-GB" dirty="0"/>
              <a:t>An AI-powered platform that simulates an adversarial technical architecture review board.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• Visual Intelligence</a:t>
            </a:r>
          </a:p>
          <a:p>
            <a:pPr marL="0" indent="0">
              <a:buNone/>
            </a:pPr>
            <a:r>
              <a:rPr lang="en-GB" dirty="0"/>
              <a:t>AI </a:t>
            </a:r>
            <a:r>
              <a:rPr lang="en-GB" dirty="0" err="1"/>
              <a:t>analyzes</a:t>
            </a:r>
            <a:r>
              <a:rPr lang="en-GB" dirty="0"/>
              <a:t> uploaded architecture diagrams and extracts system components and connections.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• Multi-Agent Review</a:t>
            </a:r>
          </a:p>
          <a:p>
            <a:pPr marL="0" indent="0">
              <a:buNone/>
            </a:pPr>
            <a:r>
              <a:rPr lang="en-GB" dirty="0"/>
              <a:t>Specialized AI agents challenge the architecture from security, reliability, and cost perspectives.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• Active </a:t>
            </a:r>
            <a:r>
              <a:rPr lang="en-GB" dirty="0" err="1"/>
              <a:t>Defense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Students must defend their engineering decisions and respond to critical questions.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F774C3-B64F-02E0-7968-F17ECCF7C345}"/>
              </a:ext>
            </a:extLst>
          </p:cNvPr>
          <p:cNvSpPr/>
          <p:nvPr/>
        </p:nvSpPr>
        <p:spPr>
          <a:xfrm>
            <a:off x="0" y="0"/>
            <a:ext cx="12192000" cy="169388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OUR SOLUTION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382D88-4493-FF64-03C5-E7BC0C7C4CAF}"/>
              </a:ext>
            </a:extLst>
          </p:cNvPr>
          <p:cNvCxnSpPr/>
          <p:nvPr/>
        </p:nvCxnSpPr>
        <p:spPr>
          <a:xfrm>
            <a:off x="7405141" y="1993692"/>
            <a:ext cx="0" cy="43021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F8E0B32-627D-1F43-93FC-C5A2BFED7418}"/>
              </a:ext>
            </a:extLst>
          </p:cNvPr>
          <p:cNvSpPr txBox="1"/>
          <p:nvPr/>
        </p:nvSpPr>
        <p:spPr>
          <a:xfrm>
            <a:off x="7659975" y="1793637"/>
            <a:ext cx="4137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1"/>
                </a:solidFill>
              </a:rPr>
              <a:t>ARCHGUARD AI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7928EC-AD71-0A0E-DFA4-30F74EFF5D6D}"/>
              </a:ext>
            </a:extLst>
          </p:cNvPr>
          <p:cNvCxnSpPr>
            <a:stCxn id="13" idx="2"/>
          </p:cNvCxnSpPr>
          <p:nvPr/>
        </p:nvCxnSpPr>
        <p:spPr>
          <a:xfrm flipH="1">
            <a:off x="9728616" y="2193747"/>
            <a:ext cx="1" cy="3545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0BA904-9D0C-2811-74F3-9C3050C65F19}"/>
              </a:ext>
            </a:extLst>
          </p:cNvPr>
          <p:cNvCxnSpPr/>
          <p:nvPr/>
        </p:nvCxnSpPr>
        <p:spPr>
          <a:xfrm flipH="1">
            <a:off x="8049718" y="2548328"/>
            <a:ext cx="1678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E49D1E4-E04D-C4EB-41AD-DF3901D2B659}"/>
              </a:ext>
            </a:extLst>
          </p:cNvPr>
          <p:cNvCxnSpPr/>
          <p:nvPr/>
        </p:nvCxnSpPr>
        <p:spPr>
          <a:xfrm>
            <a:off x="9728616" y="2548328"/>
            <a:ext cx="15889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64BC42-E1EA-0A83-292E-A5058EA8F780}"/>
              </a:ext>
            </a:extLst>
          </p:cNvPr>
          <p:cNvCxnSpPr/>
          <p:nvPr/>
        </p:nvCxnSpPr>
        <p:spPr>
          <a:xfrm>
            <a:off x="8049718" y="2548328"/>
            <a:ext cx="0" cy="269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C7C500-A083-5D8C-DFC6-A4C986078C82}"/>
              </a:ext>
            </a:extLst>
          </p:cNvPr>
          <p:cNvCxnSpPr/>
          <p:nvPr/>
        </p:nvCxnSpPr>
        <p:spPr>
          <a:xfrm>
            <a:off x="9728616" y="2548328"/>
            <a:ext cx="0" cy="269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75570D-3D27-F1A9-C3BF-147504B6B6D9}"/>
              </a:ext>
            </a:extLst>
          </p:cNvPr>
          <p:cNvCxnSpPr/>
          <p:nvPr/>
        </p:nvCxnSpPr>
        <p:spPr>
          <a:xfrm>
            <a:off x="11317574" y="2548328"/>
            <a:ext cx="0" cy="269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6682252-5944-5D51-35F6-1C0449B013D2}"/>
              </a:ext>
            </a:extLst>
          </p:cNvPr>
          <p:cNvSpPr txBox="1"/>
          <p:nvPr/>
        </p:nvSpPr>
        <p:spPr>
          <a:xfrm>
            <a:off x="7405140" y="2818151"/>
            <a:ext cx="1424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CYBERSEC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EF8A80-ECBB-8AB9-99BE-57B324B26E0F}"/>
              </a:ext>
            </a:extLst>
          </p:cNvPr>
          <p:cNvSpPr txBox="1"/>
          <p:nvPr/>
        </p:nvSpPr>
        <p:spPr>
          <a:xfrm>
            <a:off x="9136507" y="2818151"/>
            <a:ext cx="1184218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SRE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B67CD5-FB25-21E1-2EEA-F9E07B164A4C}"/>
              </a:ext>
            </a:extLst>
          </p:cNvPr>
          <p:cNvSpPr txBox="1"/>
          <p:nvPr/>
        </p:nvSpPr>
        <p:spPr>
          <a:xfrm>
            <a:off x="10579310" y="2728210"/>
            <a:ext cx="1476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FINOPS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7F7CCD-7B47-4AA3-3E87-DCD7453309E2}"/>
              </a:ext>
            </a:extLst>
          </p:cNvPr>
          <p:cNvCxnSpPr>
            <a:stCxn id="26" idx="2"/>
          </p:cNvCxnSpPr>
          <p:nvPr/>
        </p:nvCxnSpPr>
        <p:spPr>
          <a:xfrm flipH="1">
            <a:off x="8117170" y="3187483"/>
            <a:ext cx="1" cy="4101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A2611F-C12A-935C-C881-7C3DD0AA9B1D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9728616" y="3187481"/>
            <a:ext cx="0" cy="4101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6D5C12C-3C51-E508-2664-8CC8144F34A3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11317574" y="3097542"/>
            <a:ext cx="22488" cy="5000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419C1A7-AA35-E2B6-00E7-D138139FF3DF}"/>
              </a:ext>
            </a:extLst>
          </p:cNvPr>
          <p:cNvCxnSpPr/>
          <p:nvPr/>
        </p:nvCxnSpPr>
        <p:spPr>
          <a:xfrm>
            <a:off x="8117170" y="3597639"/>
            <a:ext cx="16114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7441326-D300-5461-9FB3-DDC955CD4954}"/>
              </a:ext>
            </a:extLst>
          </p:cNvPr>
          <p:cNvCxnSpPr/>
          <p:nvPr/>
        </p:nvCxnSpPr>
        <p:spPr>
          <a:xfrm flipH="1">
            <a:off x="9728616" y="3597639"/>
            <a:ext cx="15889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C00C3A3-FA45-371C-79F8-0B57DF609BF4}"/>
              </a:ext>
            </a:extLst>
          </p:cNvPr>
          <p:cNvCxnSpPr/>
          <p:nvPr/>
        </p:nvCxnSpPr>
        <p:spPr>
          <a:xfrm>
            <a:off x="9728616" y="3597639"/>
            <a:ext cx="0" cy="547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5C7C7B4-DB98-AE20-958D-0D74FCF37669}"/>
              </a:ext>
            </a:extLst>
          </p:cNvPr>
          <p:cNvSpPr txBox="1"/>
          <p:nvPr/>
        </p:nvSpPr>
        <p:spPr>
          <a:xfrm>
            <a:off x="7832363" y="4150840"/>
            <a:ext cx="3792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1"/>
                </a:solidFill>
              </a:rPr>
              <a:t>STUDENT DEFENSE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0DBEC66-F0BF-55F5-1941-324FB67D4F87}"/>
              </a:ext>
            </a:extLst>
          </p:cNvPr>
          <p:cNvCxnSpPr>
            <a:stCxn id="45" idx="2"/>
          </p:cNvCxnSpPr>
          <p:nvPr/>
        </p:nvCxnSpPr>
        <p:spPr>
          <a:xfrm>
            <a:off x="9728616" y="4550950"/>
            <a:ext cx="0" cy="545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F5DD3EF-3512-7949-424A-1556544B47C6}"/>
              </a:ext>
            </a:extLst>
          </p:cNvPr>
          <p:cNvSpPr txBox="1"/>
          <p:nvPr/>
        </p:nvSpPr>
        <p:spPr>
          <a:xfrm>
            <a:off x="7974766" y="5096656"/>
            <a:ext cx="3507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1"/>
                </a:solidFill>
              </a:rPr>
              <a:t>IMPROVED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3363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6" grpId="0"/>
      <p:bldP spid="27" grpId="0"/>
      <p:bldP spid="28" grpId="0"/>
      <p:bldP spid="45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12AA-BFA1-022D-FA44-58380215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rgbClr val="205E97"/>
          </a:solidFill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2C2C7-C5FC-70ED-2CAF-7A580AD4E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0"/>
          </a:xfrm>
        </p:spPr>
        <p:txBody>
          <a:bodyPr/>
          <a:lstStyle/>
          <a:p>
            <a:pPr marL="0" indent="0">
              <a:buNone/>
            </a:pPr>
            <a:r>
              <a:rPr lang="ar-KW" dirty="0"/>
              <a:t>  </a:t>
            </a:r>
            <a:endParaRPr lang="en-GB" dirty="0"/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B4CB96E4-749B-0748-B8F8-8AA846143800}"/>
              </a:ext>
            </a:extLst>
          </p:cNvPr>
          <p:cNvSpPr/>
          <p:nvPr/>
        </p:nvSpPr>
        <p:spPr>
          <a:xfrm>
            <a:off x="0" y="1798820"/>
            <a:ext cx="5591332" cy="1034322"/>
          </a:xfrm>
          <a:prstGeom prst="snip1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01</a:t>
            </a:r>
            <a:r>
              <a:rPr lang="ar-KW" dirty="0"/>
              <a:t> </a:t>
            </a:r>
            <a:r>
              <a:rPr lang="en-GB" dirty="0"/>
              <a:t>UPLOAD</a:t>
            </a:r>
          </a:p>
          <a:p>
            <a:r>
              <a:rPr lang="en-GB" dirty="0"/>
              <a:t>Architecture Diagram / ERD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F6D04D9F-2111-088B-AA1B-DFB46BB04281}"/>
              </a:ext>
            </a:extLst>
          </p:cNvPr>
          <p:cNvSpPr/>
          <p:nvPr/>
        </p:nvSpPr>
        <p:spPr>
          <a:xfrm>
            <a:off x="0" y="3146598"/>
            <a:ext cx="5591332" cy="1011836"/>
          </a:xfrm>
          <a:prstGeom prst="snip1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02</a:t>
            </a:r>
            <a:r>
              <a:rPr lang="ar-KW" dirty="0"/>
              <a:t> </a:t>
            </a:r>
            <a:r>
              <a:rPr lang="en-GB" dirty="0"/>
              <a:t>ANALYZE</a:t>
            </a:r>
          </a:p>
          <a:p>
            <a:r>
              <a:rPr lang="en-GB" dirty="0"/>
              <a:t>Multimodal AI extracts the architecture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6859D6F6-D771-24E0-EE66-EA987B3AD75A}"/>
              </a:ext>
            </a:extLst>
          </p:cNvPr>
          <p:cNvSpPr/>
          <p:nvPr/>
        </p:nvSpPr>
        <p:spPr>
          <a:xfrm>
            <a:off x="0" y="4471890"/>
            <a:ext cx="5591332" cy="1011836"/>
          </a:xfrm>
          <a:prstGeom prst="snip1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03</a:t>
            </a:r>
            <a:r>
              <a:rPr lang="ar-KW" dirty="0"/>
              <a:t> </a:t>
            </a:r>
            <a:r>
              <a:rPr lang="en-GB" dirty="0"/>
              <a:t>DEBATE</a:t>
            </a:r>
          </a:p>
          <a:p>
            <a:r>
              <a:rPr lang="en-GB" dirty="0"/>
              <a:t>Specialized AI agents challenge the design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7C468B9-7605-F1D1-C0D1-7E77FA4C298D}"/>
              </a:ext>
            </a:extLst>
          </p:cNvPr>
          <p:cNvSpPr/>
          <p:nvPr/>
        </p:nvSpPr>
        <p:spPr>
          <a:xfrm>
            <a:off x="0" y="5846164"/>
            <a:ext cx="5591332" cy="1011836"/>
          </a:xfrm>
          <a:prstGeom prst="snip1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04</a:t>
            </a:r>
            <a:r>
              <a:rPr lang="ar-KW" dirty="0"/>
              <a:t> </a:t>
            </a:r>
            <a:r>
              <a:rPr lang="en-GB" dirty="0"/>
              <a:t>DEFEND</a:t>
            </a:r>
          </a:p>
          <a:p>
            <a:r>
              <a:rPr lang="en-GB" dirty="0"/>
              <a:t>The student responds to critical questions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CF2AE9A9-7DF9-A99C-65C4-EEF755E375BA}"/>
              </a:ext>
            </a:extLst>
          </p:cNvPr>
          <p:cNvSpPr/>
          <p:nvPr/>
        </p:nvSpPr>
        <p:spPr>
          <a:xfrm>
            <a:off x="6325849" y="1866276"/>
            <a:ext cx="5461416" cy="1034322"/>
          </a:xfrm>
          <a:prstGeom prst="snip1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05</a:t>
            </a:r>
            <a:r>
              <a:rPr lang="ar-KW" dirty="0"/>
              <a:t> </a:t>
            </a:r>
            <a:r>
              <a:rPr lang="en-GB" dirty="0"/>
              <a:t>REPAIR</a:t>
            </a:r>
          </a:p>
          <a:p>
            <a:r>
              <a:rPr lang="en-GB" dirty="0"/>
              <a:t>AI generates an improved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253300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F786A-3F0D-D99B-076A-9D1803AB2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18702"/>
            <a:ext cx="12192000" cy="5039297"/>
          </a:xfrm>
        </p:spPr>
        <p:txBody>
          <a:bodyPr/>
          <a:lstStyle/>
          <a:p>
            <a:pPr marL="0" indent="0">
              <a:buNone/>
            </a:pPr>
            <a:r>
              <a:rPr lang="ar-KW" dirty="0"/>
              <a:t>   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7D6FAA-F41B-1994-603C-EE3EF72129F7}"/>
              </a:ext>
            </a:extLst>
          </p:cNvPr>
          <p:cNvSpPr/>
          <p:nvPr/>
        </p:nvSpPr>
        <p:spPr>
          <a:xfrm>
            <a:off x="0" y="-18165"/>
            <a:ext cx="12192000" cy="1825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AI AGENT JURY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729FD5-7721-8F56-970C-E35D19DDB607}"/>
              </a:ext>
            </a:extLst>
          </p:cNvPr>
          <p:cNvSpPr/>
          <p:nvPr/>
        </p:nvSpPr>
        <p:spPr>
          <a:xfrm>
            <a:off x="0" y="1967458"/>
            <a:ext cx="5051685" cy="17051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/>
              <a:t>CYBERSEC AGENT</a:t>
            </a:r>
          </a:p>
          <a:p>
            <a:endParaRPr lang="en-GB" sz="1600" dirty="0"/>
          </a:p>
          <a:p>
            <a:r>
              <a:rPr lang="en-GB" sz="1600" dirty="0"/>
              <a:t>Focuses on:</a:t>
            </a:r>
          </a:p>
          <a:p>
            <a:r>
              <a:rPr lang="en-GB" sz="1600" dirty="0"/>
              <a:t>• Authentication</a:t>
            </a:r>
          </a:p>
          <a:p>
            <a:r>
              <a:rPr lang="en-GB" sz="1600" dirty="0"/>
              <a:t>• Attack Surface</a:t>
            </a:r>
          </a:p>
          <a:p>
            <a:r>
              <a:rPr lang="en-GB" sz="1600" dirty="0"/>
              <a:t>• Network Exposure</a:t>
            </a:r>
          </a:p>
          <a:p>
            <a:r>
              <a:rPr lang="en-GB" sz="1600" dirty="0"/>
              <a:t>• Data Protection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33976E-0CBA-35D0-AF1E-4EE67F384E95}"/>
              </a:ext>
            </a:extLst>
          </p:cNvPr>
          <p:cNvSpPr/>
          <p:nvPr/>
        </p:nvSpPr>
        <p:spPr>
          <a:xfrm>
            <a:off x="-1" y="3878702"/>
            <a:ext cx="5051685" cy="16938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/>
              <a:t>SRE AGENT</a:t>
            </a:r>
          </a:p>
          <a:p>
            <a:endParaRPr lang="en-GB" sz="1600" dirty="0"/>
          </a:p>
          <a:p>
            <a:r>
              <a:rPr lang="en-GB" sz="1600" dirty="0"/>
              <a:t>Focuses on:</a:t>
            </a:r>
          </a:p>
          <a:p>
            <a:r>
              <a:rPr lang="en-GB" sz="1600" dirty="0"/>
              <a:t>• Availability</a:t>
            </a:r>
          </a:p>
          <a:p>
            <a:r>
              <a:rPr lang="en-GB" sz="1600" dirty="0"/>
              <a:t>• Scalability</a:t>
            </a:r>
          </a:p>
          <a:p>
            <a:r>
              <a:rPr lang="en-GB" sz="1600" dirty="0"/>
              <a:t>• Single Points of Failure</a:t>
            </a:r>
          </a:p>
          <a:p>
            <a:r>
              <a:rPr lang="en-GB" sz="1600" dirty="0"/>
              <a:t>• Disaster Recovery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01C865-1BE3-0E5B-63A8-092CBF90098E}"/>
              </a:ext>
            </a:extLst>
          </p:cNvPr>
          <p:cNvSpPr/>
          <p:nvPr/>
        </p:nvSpPr>
        <p:spPr>
          <a:xfrm>
            <a:off x="5656291" y="1978700"/>
            <a:ext cx="4407108" cy="16938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/>
              <a:t>FINOPS AGENT</a:t>
            </a:r>
          </a:p>
          <a:p>
            <a:endParaRPr lang="en-GB" sz="1600" dirty="0"/>
          </a:p>
          <a:p>
            <a:r>
              <a:rPr lang="en-GB" sz="1600" dirty="0"/>
              <a:t>Focuses on:</a:t>
            </a:r>
          </a:p>
          <a:p>
            <a:r>
              <a:rPr lang="en-GB" sz="1600" dirty="0"/>
              <a:t>• Resource Efficiency</a:t>
            </a:r>
          </a:p>
          <a:p>
            <a:r>
              <a:rPr lang="en-GB" sz="1600" dirty="0"/>
              <a:t>• Over-Provisioning</a:t>
            </a:r>
          </a:p>
          <a:p>
            <a:r>
              <a:rPr lang="en-GB" sz="1600" dirty="0"/>
              <a:t>• Scaling Costs</a:t>
            </a:r>
          </a:p>
          <a:p>
            <a:r>
              <a:rPr lang="en-GB" sz="1600" dirty="0"/>
              <a:t>• Infrastructure Waste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80918-A6D1-A3FE-9FE5-20D6721D6532}"/>
              </a:ext>
            </a:extLst>
          </p:cNvPr>
          <p:cNvSpPr txBox="1"/>
          <p:nvPr/>
        </p:nvSpPr>
        <p:spPr>
          <a:xfrm>
            <a:off x="164890" y="5732589"/>
            <a:ext cx="4886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MULTI-AGENT DEBATE</a:t>
            </a:r>
            <a:endParaRPr lang="en-GB" dirty="0"/>
          </a:p>
          <a:p>
            <a:r>
              <a:rPr lang="en-GB" dirty="0"/>
              <a:t>Each agent challenges the architecture from a different engineering perspective.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34BBB4-394F-F521-C1D2-3DD3907D1FA6}"/>
              </a:ext>
            </a:extLst>
          </p:cNvPr>
          <p:cNvSpPr txBox="1"/>
          <p:nvPr/>
        </p:nvSpPr>
        <p:spPr>
          <a:xfrm>
            <a:off x="6031045" y="3751482"/>
            <a:ext cx="411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ARCHITECTURE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6B621F-75BD-BB7B-F40D-B2BABCF44089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6205929" y="4248034"/>
            <a:ext cx="1379094" cy="442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8FC164-02D9-5F9D-CAF1-A3BDC2575DBA}"/>
              </a:ext>
            </a:extLst>
          </p:cNvPr>
          <p:cNvCxnSpPr/>
          <p:nvPr/>
        </p:nvCxnSpPr>
        <p:spPr>
          <a:xfrm>
            <a:off x="7879834" y="4482059"/>
            <a:ext cx="0" cy="387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FEC800-980A-F646-08BB-43DEDD12B7DA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8244590" y="4248034"/>
            <a:ext cx="893398" cy="486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10D2D6A-DEB1-FEAF-4791-D364DEFED16C}"/>
              </a:ext>
            </a:extLst>
          </p:cNvPr>
          <p:cNvSpPr/>
          <p:nvPr/>
        </p:nvSpPr>
        <p:spPr>
          <a:xfrm>
            <a:off x="5516383" y="4690575"/>
            <a:ext cx="1379092" cy="5396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accent1"/>
                </a:solidFill>
              </a:rPr>
              <a:t>CYBERSEC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F27844-7466-87C2-16C6-247C60294E12}"/>
              </a:ext>
            </a:extLst>
          </p:cNvPr>
          <p:cNvSpPr/>
          <p:nvPr/>
        </p:nvSpPr>
        <p:spPr>
          <a:xfrm>
            <a:off x="7435121" y="4824464"/>
            <a:ext cx="1054296" cy="5396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SRE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A0EC1D1-6BEE-24AF-FBC1-AB35CC59C2AB}"/>
              </a:ext>
            </a:extLst>
          </p:cNvPr>
          <p:cNvSpPr/>
          <p:nvPr/>
        </p:nvSpPr>
        <p:spPr>
          <a:xfrm>
            <a:off x="8931634" y="4649737"/>
            <a:ext cx="1409074" cy="58048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FINOPS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C2B3BE0-6B3D-40A1-A59D-3793C8FE5A3D}"/>
              </a:ext>
            </a:extLst>
          </p:cNvPr>
          <p:cNvSpPr/>
          <p:nvPr/>
        </p:nvSpPr>
        <p:spPr>
          <a:xfrm>
            <a:off x="7011649" y="5732589"/>
            <a:ext cx="2091128" cy="5396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AI DEBATE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5B123F6-BF69-4A9B-288A-0423E87E693C}"/>
              </a:ext>
            </a:extLst>
          </p:cNvPr>
          <p:cNvCxnSpPr>
            <a:stCxn id="20" idx="4"/>
            <a:endCxn id="21" idx="7"/>
          </p:cNvCxnSpPr>
          <p:nvPr/>
        </p:nvCxnSpPr>
        <p:spPr>
          <a:xfrm flipH="1">
            <a:off x="8796538" y="5230221"/>
            <a:ext cx="839633" cy="581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E2802CC-9738-32F3-D367-A692853AD439}"/>
              </a:ext>
            </a:extLst>
          </p:cNvPr>
          <p:cNvCxnSpPr>
            <a:stCxn id="19" idx="4"/>
            <a:endCxn id="21" idx="0"/>
          </p:cNvCxnSpPr>
          <p:nvPr/>
        </p:nvCxnSpPr>
        <p:spPr>
          <a:xfrm>
            <a:off x="7962269" y="5364110"/>
            <a:ext cx="94944" cy="368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BF72E9-933B-324A-8E5B-3FECA034DB81}"/>
              </a:ext>
            </a:extLst>
          </p:cNvPr>
          <p:cNvCxnSpPr>
            <a:stCxn id="17" idx="4"/>
            <a:endCxn id="21" idx="1"/>
          </p:cNvCxnSpPr>
          <p:nvPr/>
        </p:nvCxnSpPr>
        <p:spPr>
          <a:xfrm>
            <a:off x="6205929" y="5230221"/>
            <a:ext cx="1111959" cy="581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AACBE6D-0AA5-46B9-DAC6-2C45357DDB6F}"/>
              </a:ext>
            </a:extLst>
          </p:cNvPr>
          <p:cNvSpPr txBox="1"/>
          <p:nvPr/>
        </p:nvSpPr>
        <p:spPr>
          <a:xfrm>
            <a:off x="6378317" y="6520721"/>
            <a:ext cx="300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TOP RISKS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C03C3D1-74C2-5A8D-D7BB-8701DF031D18}"/>
              </a:ext>
            </a:extLst>
          </p:cNvPr>
          <p:cNvCxnSpPr>
            <a:stCxn id="21" idx="4"/>
          </p:cNvCxnSpPr>
          <p:nvPr/>
        </p:nvCxnSpPr>
        <p:spPr>
          <a:xfrm flipH="1">
            <a:off x="8009741" y="6272235"/>
            <a:ext cx="47472" cy="248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70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/>
      <p:bldP spid="17" grpId="0" animBg="1"/>
      <p:bldP spid="19" grpId="0" animBg="1"/>
      <p:bldP spid="20" grpId="0" animBg="1"/>
      <p:bldP spid="21" grpId="0" animBg="1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8CB8-2C62-9E7B-D847-9D2B2C893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0" y="1648918"/>
            <a:ext cx="12133289" cy="5209081"/>
          </a:xfrm>
        </p:spPr>
        <p:txBody>
          <a:bodyPr/>
          <a:lstStyle/>
          <a:p>
            <a:pPr marL="0" indent="0">
              <a:buNone/>
            </a:pPr>
            <a:r>
              <a:rPr lang="ar-KW" dirty="0"/>
              <a:t>   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6293ED-7D7C-1F53-1A96-14AA39D41167}"/>
              </a:ext>
            </a:extLst>
          </p:cNvPr>
          <p:cNvSpPr/>
          <p:nvPr/>
        </p:nvSpPr>
        <p:spPr>
          <a:xfrm>
            <a:off x="-58710" y="0"/>
            <a:ext cx="12192000" cy="164891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DEFENSE ARENA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AFB99F-5ACD-6569-4FFC-44F98A4BA53D}"/>
              </a:ext>
            </a:extLst>
          </p:cNvPr>
          <p:cNvSpPr txBox="1"/>
          <p:nvPr/>
        </p:nvSpPr>
        <p:spPr>
          <a:xfrm>
            <a:off x="58710" y="1843790"/>
            <a:ext cx="590737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• Critical Question</a:t>
            </a:r>
          </a:p>
          <a:p>
            <a:r>
              <a:rPr lang="en-GB" sz="2000" dirty="0"/>
              <a:t>The system identifies the most important architectural weakness.</a:t>
            </a:r>
          </a:p>
          <a:p>
            <a:endParaRPr lang="en-GB" sz="2000" dirty="0"/>
          </a:p>
          <a:p>
            <a:r>
              <a:rPr lang="en-GB" sz="2000" dirty="0"/>
              <a:t>• Student </a:t>
            </a:r>
            <a:r>
              <a:rPr lang="en-GB" sz="2000" dirty="0" err="1"/>
              <a:t>Defense</a:t>
            </a:r>
            <a:endParaRPr lang="en-GB" sz="2000" dirty="0"/>
          </a:p>
          <a:p>
            <a:r>
              <a:rPr lang="en-GB" sz="2000" dirty="0"/>
              <a:t>The student explains how the identified risk should be mitigated.</a:t>
            </a:r>
          </a:p>
          <a:p>
            <a:endParaRPr lang="en-GB" sz="2000" dirty="0"/>
          </a:p>
          <a:p>
            <a:r>
              <a:rPr lang="en-GB" sz="2000" dirty="0"/>
              <a:t>• Adaptive Follow-Up</a:t>
            </a:r>
          </a:p>
          <a:p>
            <a:r>
              <a:rPr lang="en-GB" sz="2000" dirty="0"/>
              <a:t>AI challenges the student's reasoning with follow-up questions.</a:t>
            </a:r>
          </a:p>
          <a:p>
            <a:endParaRPr lang="en-GB" sz="2000" dirty="0"/>
          </a:p>
          <a:p>
            <a:r>
              <a:rPr lang="en-GB" sz="2000" dirty="0"/>
              <a:t>• Technical Evaluation</a:t>
            </a:r>
          </a:p>
          <a:p>
            <a:r>
              <a:rPr lang="en-GB" sz="2000" dirty="0"/>
              <a:t>The response is evaluated for risk understanding, mitigation quality, and engineering trade-offs.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790DE1-A5BA-D0A6-3096-BAD6E95127AC}"/>
              </a:ext>
            </a:extLst>
          </p:cNvPr>
          <p:cNvCxnSpPr>
            <a:cxnSpLocks/>
          </p:cNvCxnSpPr>
          <p:nvPr/>
        </p:nvCxnSpPr>
        <p:spPr>
          <a:xfrm>
            <a:off x="6310859" y="2113613"/>
            <a:ext cx="0" cy="42272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2A53630-78DD-1291-E06A-676F2BD7DE55}"/>
              </a:ext>
            </a:extLst>
          </p:cNvPr>
          <p:cNvSpPr/>
          <p:nvPr/>
        </p:nvSpPr>
        <p:spPr>
          <a:xfrm>
            <a:off x="8451951" y="1746354"/>
            <a:ext cx="3612629" cy="899410"/>
          </a:xfrm>
          <a:prstGeom prst="snip1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AI JURY </a:t>
            </a:r>
            <a:endParaRPr lang="ar-KW" sz="1400" dirty="0"/>
          </a:p>
          <a:p>
            <a:r>
              <a:rPr lang="en-GB" sz="1400" dirty="0"/>
              <a:t>Why did you choose a single database without replication?</a:t>
            </a:r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490E8A1D-812C-A595-ABC8-F7183819873A}"/>
              </a:ext>
            </a:extLst>
          </p:cNvPr>
          <p:cNvSpPr/>
          <p:nvPr/>
        </p:nvSpPr>
        <p:spPr>
          <a:xfrm>
            <a:off x="6428280" y="3207894"/>
            <a:ext cx="4047342" cy="899410"/>
          </a:xfrm>
          <a:prstGeom prst="snip1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STUDENT</a:t>
            </a:r>
            <a:endParaRPr lang="ar-KW" sz="1400" dirty="0"/>
          </a:p>
          <a:p>
            <a:r>
              <a:rPr lang="en-GB" sz="1400" dirty="0"/>
              <a:t> Because the project is small and has limited traffic.</a:t>
            </a:r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226264C0-AC57-C7C9-7BEB-0AF510BDC4B0}"/>
              </a:ext>
            </a:extLst>
          </p:cNvPr>
          <p:cNvSpPr/>
          <p:nvPr/>
        </p:nvSpPr>
        <p:spPr>
          <a:xfrm>
            <a:off x="8451951" y="4669434"/>
            <a:ext cx="3612629" cy="899410"/>
          </a:xfrm>
          <a:prstGeom prst="snip1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AI FOLLOW-UP </a:t>
            </a:r>
            <a:endParaRPr lang="ar-KW" sz="1400" dirty="0"/>
          </a:p>
          <a:p>
            <a:r>
              <a:rPr lang="en-GB" sz="1400" dirty="0"/>
              <a:t>How would your design behave if the database becomes unavailable?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F37D3C92-3147-3E5E-048C-43F94B294E34}"/>
              </a:ext>
            </a:extLst>
          </p:cNvPr>
          <p:cNvSpPr/>
          <p:nvPr/>
        </p:nvSpPr>
        <p:spPr>
          <a:xfrm>
            <a:off x="8701789" y="2743200"/>
            <a:ext cx="172382" cy="4497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2B23B3A-DCB6-C217-9876-CEB968437A6F}"/>
              </a:ext>
            </a:extLst>
          </p:cNvPr>
          <p:cNvSpPr/>
          <p:nvPr/>
        </p:nvSpPr>
        <p:spPr>
          <a:xfrm>
            <a:off x="8574374" y="4092314"/>
            <a:ext cx="254831" cy="4497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8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1C40-F238-7A2C-937A-A837C467E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KW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</a:t>
            </a:r>
            <a:r>
              <a:rPr lang="en-GB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BEFORE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6E7C77-6CB6-EAC9-803B-BEA991B453EC}"/>
              </a:ext>
            </a:extLst>
          </p:cNvPr>
          <p:cNvSpPr/>
          <p:nvPr/>
        </p:nvSpPr>
        <p:spPr>
          <a:xfrm>
            <a:off x="0" y="0"/>
            <a:ext cx="12192000" cy="1798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EVALUATION &amp; CORRECTION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89AD85-F87F-A043-C3DD-E2E11B19F7A9}"/>
              </a:ext>
            </a:extLst>
          </p:cNvPr>
          <p:cNvCxnSpPr/>
          <p:nvPr/>
        </p:nvCxnSpPr>
        <p:spPr>
          <a:xfrm>
            <a:off x="5861154" y="2128603"/>
            <a:ext cx="0" cy="4122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48AAA1E5-7736-F707-80BC-A9D23C4D4D0D}"/>
              </a:ext>
            </a:extLst>
          </p:cNvPr>
          <p:cNvSpPr/>
          <p:nvPr/>
        </p:nvSpPr>
        <p:spPr>
          <a:xfrm>
            <a:off x="809468" y="2514600"/>
            <a:ext cx="2293495" cy="7382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Frontend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74B0BA-7D60-45D4-7895-6D87ED578669}"/>
              </a:ext>
            </a:extLst>
          </p:cNvPr>
          <p:cNvSpPr/>
          <p:nvPr/>
        </p:nvSpPr>
        <p:spPr>
          <a:xfrm>
            <a:off x="509663" y="3760657"/>
            <a:ext cx="2293492" cy="7382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21639F"/>
                </a:solidFill>
              </a:rPr>
              <a:t>Backend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144B25-8D48-58FD-0555-42A5A1710422}"/>
              </a:ext>
            </a:extLst>
          </p:cNvPr>
          <p:cNvSpPr/>
          <p:nvPr/>
        </p:nvSpPr>
        <p:spPr>
          <a:xfrm>
            <a:off x="1214203" y="5006715"/>
            <a:ext cx="2683239" cy="7382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6A19FA-CE65-50E2-84D7-DF1561845DBB}"/>
              </a:ext>
            </a:extLst>
          </p:cNvPr>
          <p:cNvSpPr txBox="1"/>
          <p:nvPr/>
        </p:nvSpPr>
        <p:spPr>
          <a:xfrm>
            <a:off x="134911" y="6167881"/>
            <a:ext cx="331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SINGLE POINT OF FAILURE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FB58AD-CC84-4E11-14D0-BCE5ADCFFAD7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656409" y="3252866"/>
            <a:ext cx="299807" cy="507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F95AAB-B0A6-8F73-A6CB-A3C1B6BBF7D4}"/>
              </a:ext>
            </a:extLst>
          </p:cNvPr>
          <p:cNvCxnSpPr>
            <a:stCxn id="9" idx="4"/>
            <a:endCxn id="10" idx="0"/>
          </p:cNvCxnSpPr>
          <p:nvPr/>
        </p:nvCxnSpPr>
        <p:spPr>
          <a:xfrm>
            <a:off x="1656409" y="4498923"/>
            <a:ext cx="899414" cy="507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B5E7DD-95A7-9CDB-155A-0CAAB47EAB9B}"/>
              </a:ext>
            </a:extLst>
          </p:cNvPr>
          <p:cNvSpPr txBox="1"/>
          <p:nvPr/>
        </p:nvSpPr>
        <p:spPr>
          <a:xfrm>
            <a:off x="6235908" y="1885013"/>
            <a:ext cx="2038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AFTER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5E8A77-4D36-100D-3EE2-D35F92510467}"/>
              </a:ext>
            </a:extLst>
          </p:cNvPr>
          <p:cNvSpPr/>
          <p:nvPr/>
        </p:nvSpPr>
        <p:spPr>
          <a:xfrm>
            <a:off x="8087195" y="2128603"/>
            <a:ext cx="2158581" cy="6347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Load Balancer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E37F9B1-6AAC-0379-C067-F233ED6B5D12}"/>
              </a:ext>
            </a:extLst>
          </p:cNvPr>
          <p:cNvSpPr/>
          <p:nvPr/>
        </p:nvSpPr>
        <p:spPr>
          <a:xfrm>
            <a:off x="6235908" y="3491990"/>
            <a:ext cx="1843792" cy="6347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Backend 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A32FDF8-8710-CA71-897A-F96B0ABE14BC}"/>
              </a:ext>
            </a:extLst>
          </p:cNvPr>
          <p:cNvSpPr/>
          <p:nvPr/>
        </p:nvSpPr>
        <p:spPr>
          <a:xfrm>
            <a:off x="9849783" y="3491990"/>
            <a:ext cx="1843791" cy="6347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Backend 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DD77395-E414-0A65-6D34-CED65F655524}"/>
              </a:ext>
            </a:extLst>
          </p:cNvPr>
          <p:cNvSpPr/>
          <p:nvPr/>
        </p:nvSpPr>
        <p:spPr>
          <a:xfrm>
            <a:off x="7701195" y="4879767"/>
            <a:ext cx="2650765" cy="99216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Database + Replica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6FAA007-B7CA-74F1-3847-6AA335E65C9D}"/>
              </a:ext>
            </a:extLst>
          </p:cNvPr>
          <p:cNvCxnSpPr>
            <a:cxnSpLocks/>
            <a:stCxn id="20" idx="3"/>
            <a:endCxn id="21" idx="0"/>
          </p:cNvCxnSpPr>
          <p:nvPr/>
        </p:nvCxnSpPr>
        <p:spPr>
          <a:xfrm flipH="1">
            <a:off x="7157804" y="2670413"/>
            <a:ext cx="1245508" cy="821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231EC3C-3AFE-A008-B840-E36C320784F0}"/>
              </a:ext>
            </a:extLst>
          </p:cNvPr>
          <p:cNvCxnSpPr>
            <a:stCxn id="20" idx="5"/>
            <a:endCxn id="22" idx="0"/>
          </p:cNvCxnSpPr>
          <p:nvPr/>
        </p:nvCxnSpPr>
        <p:spPr>
          <a:xfrm>
            <a:off x="9929659" y="2670413"/>
            <a:ext cx="842020" cy="821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330826E-F6DD-4575-0718-10D3A6D01FFA}"/>
              </a:ext>
            </a:extLst>
          </p:cNvPr>
          <p:cNvCxnSpPr>
            <a:stCxn id="22" idx="4"/>
            <a:endCxn id="23" idx="7"/>
          </p:cNvCxnSpPr>
          <p:nvPr/>
        </p:nvCxnSpPr>
        <p:spPr>
          <a:xfrm flipH="1">
            <a:off x="9963764" y="4126760"/>
            <a:ext cx="807915" cy="89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F945DCE-D0FE-E31A-2F06-4A79809AD46B}"/>
              </a:ext>
            </a:extLst>
          </p:cNvPr>
          <p:cNvCxnSpPr>
            <a:stCxn id="21" idx="4"/>
          </p:cNvCxnSpPr>
          <p:nvPr/>
        </p:nvCxnSpPr>
        <p:spPr>
          <a:xfrm>
            <a:off x="7157804" y="4126760"/>
            <a:ext cx="1116768" cy="89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8A11362-A5DF-8CB7-CDC7-B0EDEC2B0948}"/>
              </a:ext>
            </a:extLst>
          </p:cNvPr>
          <p:cNvSpPr txBox="1"/>
          <p:nvPr/>
        </p:nvSpPr>
        <p:spPr>
          <a:xfrm>
            <a:off x="6235908" y="6250898"/>
            <a:ext cx="307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IMPROVED RESILIENCE</a:t>
            </a:r>
          </a:p>
        </p:txBody>
      </p:sp>
    </p:spTree>
    <p:extLst>
      <p:ext uri="{BB962C8B-B14F-4D97-AF65-F5344CB8AC3E}">
        <p14:creationId xmlns:p14="http://schemas.microsoft.com/office/powerpoint/2010/main" val="161712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9" grpId="0"/>
      <p:bldP spid="20" grpId="0" animBg="1"/>
      <p:bldP spid="21" grpId="0" animBg="1"/>
      <p:bldP spid="22" grpId="0" animBg="1"/>
      <p:bldP spid="23" grpId="0" animBg="1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B2CEBC-CECB-9C9B-6AF1-A9C858576DC8}"/>
              </a:ext>
            </a:extLst>
          </p:cNvPr>
          <p:cNvSpPr/>
          <p:nvPr/>
        </p:nvSpPr>
        <p:spPr>
          <a:xfrm>
            <a:off x="0" y="0"/>
            <a:ext cx="12192000" cy="15140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FINAL 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46B0A-8B86-DD5D-47CD-BF0CEACD95C8}"/>
              </a:ext>
            </a:extLst>
          </p:cNvPr>
          <p:cNvSpPr/>
          <p:nvPr/>
        </p:nvSpPr>
        <p:spPr>
          <a:xfrm>
            <a:off x="499672" y="1933730"/>
            <a:ext cx="5211580" cy="1379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Risk Assessment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2CB5FC-DFF0-4D4D-1568-A7F7680EF426}"/>
              </a:ext>
            </a:extLst>
          </p:cNvPr>
          <p:cNvSpPr/>
          <p:nvPr/>
        </p:nvSpPr>
        <p:spPr>
          <a:xfrm>
            <a:off x="499673" y="4107305"/>
            <a:ext cx="5211579" cy="1379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err="1"/>
              <a:t>Defense</a:t>
            </a:r>
            <a:r>
              <a:rPr lang="en-GB" sz="3200" dirty="0"/>
              <a:t> Score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227418-A1A7-EA7A-F4A2-5244B52800B6}"/>
              </a:ext>
            </a:extLst>
          </p:cNvPr>
          <p:cNvCxnSpPr/>
          <p:nvPr/>
        </p:nvCxnSpPr>
        <p:spPr>
          <a:xfrm>
            <a:off x="6310859" y="1933731"/>
            <a:ext cx="0" cy="30729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E2A2F53-74BC-4496-D8BC-F43919307F8A}"/>
              </a:ext>
            </a:extLst>
          </p:cNvPr>
          <p:cNvSpPr/>
          <p:nvPr/>
        </p:nvSpPr>
        <p:spPr>
          <a:xfrm>
            <a:off x="6850505" y="1933731"/>
            <a:ext cx="4841823" cy="1379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Engineering Feedback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1576D7-9CB7-F0B9-4722-B517EE2FB19C}"/>
              </a:ext>
            </a:extLst>
          </p:cNvPr>
          <p:cNvSpPr/>
          <p:nvPr/>
        </p:nvSpPr>
        <p:spPr>
          <a:xfrm>
            <a:off x="6850505" y="4107305"/>
            <a:ext cx="4841822" cy="1379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Improved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4432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D98112-AEF8-1921-AFFD-24C8567CD33E}"/>
              </a:ext>
            </a:extLst>
          </p:cNvPr>
          <p:cNvSpPr/>
          <p:nvPr/>
        </p:nvSpPr>
        <p:spPr>
          <a:xfrm>
            <a:off x="0" y="0"/>
            <a:ext cx="12192000" cy="1289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TECHNICAL ARCHITECTURE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EDB116-74B1-84CF-3751-C9E74981205C}"/>
              </a:ext>
            </a:extLst>
          </p:cNvPr>
          <p:cNvSpPr/>
          <p:nvPr/>
        </p:nvSpPr>
        <p:spPr>
          <a:xfrm>
            <a:off x="4058587" y="1349115"/>
            <a:ext cx="1993692" cy="6745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18F1CB-9538-6039-385F-29CD8CB768CD}"/>
              </a:ext>
            </a:extLst>
          </p:cNvPr>
          <p:cNvSpPr/>
          <p:nvPr/>
        </p:nvSpPr>
        <p:spPr>
          <a:xfrm>
            <a:off x="4058587" y="2286002"/>
            <a:ext cx="1993692" cy="6745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REACT / FRONTEND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483F7E-660F-2868-B3AA-4371C3FF5A94}"/>
              </a:ext>
            </a:extLst>
          </p:cNvPr>
          <p:cNvSpPr/>
          <p:nvPr/>
        </p:nvSpPr>
        <p:spPr>
          <a:xfrm>
            <a:off x="4058587" y="3185408"/>
            <a:ext cx="1993692" cy="5546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FASTAPI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3699F6-18D7-3FA9-B203-6F92ADB9F4D5}"/>
              </a:ext>
            </a:extLst>
          </p:cNvPr>
          <p:cNvSpPr/>
          <p:nvPr/>
        </p:nvSpPr>
        <p:spPr>
          <a:xfrm>
            <a:off x="1586458" y="3826238"/>
            <a:ext cx="1663908" cy="599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GEMINI VISION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3142AB-F10B-D519-1E23-3D1BAB3A1E0D}"/>
              </a:ext>
            </a:extLst>
          </p:cNvPr>
          <p:cNvSpPr/>
          <p:nvPr/>
        </p:nvSpPr>
        <p:spPr>
          <a:xfrm>
            <a:off x="8162148" y="3826238"/>
            <a:ext cx="1843790" cy="599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AI AGENTS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518787-0087-F0BE-4E9F-627D79D16EE0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5055433" y="2023672"/>
            <a:ext cx="0" cy="262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050FA5-8725-27B8-4070-11A92C2B0902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5055433" y="2960559"/>
            <a:ext cx="0" cy="22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74D92C-8863-90DA-91DE-9DF25534735B}"/>
              </a:ext>
            </a:extLst>
          </p:cNvPr>
          <p:cNvCxnSpPr>
            <a:stCxn id="8" idx="4"/>
          </p:cNvCxnSpPr>
          <p:nvPr/>
        </p:nvCxnSpPr>
        <p:spPr>
          <a:xfrm>
            <a:off x="5055433" y="3740044"/>
            <a:ext cx="0" cy="3859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D8550C3-9D08-C685-8542-6BDED3E73340}"/>
              </a:ext>
            </a:extLst>
          </p:cNvPr>
          <p:cNvSpPr/>
          <p:nvPr/>
        </p:nvSpPr>
        <p:spPr>
          <a:xfrm>
            <a:off x="6357080" y="4335905"/>
            <a:ext cx="1717636" cy="599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CYBERSEC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EAA9CDF-0DD9-1D60-3604-77F6FED0DFB0}"/>
              </a:ext>
            </a:extLst>
          </p:cNvPr>
          <p:cNvSpPr/>
          <p:nvPr/>
        </p:nvSpPr>
        <p:spPr>
          <a:xfrm>
            <a:off x="8342026" y="4931769"/>
            <a:ext cx="1454046" cy="4234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SRE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0412DC0-5B38-0119-3C09-69633C6AD5F7}"/>
              </a:ext>
            </a:extLst>
          </p:cNvPr>
          <p:cNvSpPr/>
          <p:nvPr/>
        </p:nvSpPr>
        <p:spPr>
          <a:xfrm>
            <a:off x="10478125" y="4249710"/>
            <a:ext cx="1581463" cy="599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FINOPS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C0CEA9-C321-7DF2-AC82-CE8E86CC28FC}"/>
              </a:ext>
            </a:extLst>
          </p:cNvPr>
          <p:cNvCxnSpPr>
            <a:endCxn id="9" idx="6"/>
          </p:cNvCxnSpPr>
          <p:nvPr/>
        </p:nvCxnSpPr>
        <p:spPr>
          <a:xfrm flipH="1">
            <a:off x="3250366" y="4126041"/>
            <a:ext cx="18050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45B39CF-95A4-23DE-412D-4B40BF9D1D48}"/>
              </a:ext>
            </a:extLst>
          </p:cNvPr>
          <p:cNvCxnSpPr>
            <a:endCxn id="10" idx="2"/>
          </p:cNvCxnSpPr>
          <p:nvPr/>
        </p:nvCxnSpPr>
        <p:spPr>
          <a:xfrm>
            <a:off x="5055433" y="4126041"/>
            <a:ext cx="31067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F28EC3A-1F4E-A12A-8750-B1BE489E4CE1}"/>
              </a:ext>
            </a:extLst>
          </p:cNvPr>
          <p:cNvCxnSpPr>
            <a:stCxn id="10" idx="3"/>
            <a:endCxn id="25" idx="7"/>
          </p:cNvCxnSpPr>
          <p:nvPr/>
        </p:nvCxnSpPr>
        <p:spPr>
          <a:xfrm flipH="1">
            <a:off x="7823174" y="4338034"/>
            <a:ext cx="608991" cy="85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8EFBCD-1F76-7CE3-7092-4CF367CCC883}"/>
              </a:ext>
            </a:extLst>
          </p:cNvPr>
          <p:cNvCxnSpPr>
            <a:stCxn id="10" idx="4"/>
          </p:cNvCxnSpPr>
          <p:nvPr/>
        </p:nvCxnSpPr>
        <p:spPr>
          <a:xfrm flipH="1">
            <a:off x="9069049" y="4425844"/>
            <a:ext cx="14994" cy="505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6CC626-5D5A-B337-4112-276D59CAF502}"/>
              </a:ext>
            </a:extLst>
          </p:cNvPr>
          <p:cNvCxnSpPr>
            <a:stCxn id="10" idx="6"/>
            <a:endCxn id="27" idx="1"/>
          </p:cNvCxnSpPr>
          <p:nvPr/>
        </p:nvCxnSpPr>
        <p:spPr>
          <a:xfrm>
            <a:off x="10005938" y="4126041"/>
            <a:ext cx="703787" cy="211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DA780F-6C67-643C-C71E-51771E105388}"/>
              </a:ext>
            </a:extLst>
          </p:cNvPr>
          <p:cNvCxnSpPr>
            <a:stCxn id="25" idx="4"/>
          </p:cNvCxnSpPr>
          <p:nvPr/>
        </p:nvCxnSpPr>
        <p:spPr>
          <a:xfrm>
            <a:off x="7215898" y="4935511"/>
            <a:ext cx="0" cy="850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C5FD283-D6D3-8926-041F-36715890B063}"/>
              </a:ext>
            </a:extLst>
          </p:cNvPr>
          <p:cNvCxnSpPr>
            <a:stCxn id="26" idx="4"/>
          </p:cNvCxnSpPr>
          <p:nvPr/>
        </p:nvCxnSpPr>
        <p:spPr>
          <a:xfrm>
            <a:off x="9069049" y="5355240"/>
            <a:ext cx="0" cy="430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26E330-4C7D-499A-56CB-6C53DCF25423}"/>
              </a:ext>
            </a:extLst>
          </p:cNvPr>
          <p:cNvCxnSpPr>
            <a:stCxn id="27" idx="4"/>
          </p:cNvCxnSpPr>
          <p:nvPr/>
        </p:nvCxnSpPr>
        <p:spPr>
          <a:xfrm flipH="1">
            <a:off x="11268856" y="4849316"/>
            <a:ext cx="1" cy="9368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A7409DB-9A82-0E43-3E71-794DE5961D4F}"/>
              </a:ext>
            </a:extLst>
          </p:cNvPr>
          <p:cNvCxnSpPr/>
          <p:nvPr/>
        </p:nvCxnSpPr>
        <p:spPr>
          <a:xfrm flipH="1">
            <a:off x="6357080" y="5786203"/>
            <a:ext cx="49117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FA5C189-1895-4092-E58A-C85793B59AD1}"/>
              </a:ext>
            </a:extLst>
          </p:cNvPr>
          <p:cNvCxnSpPr/>
          <p:nvPr/>
        </p:nvCxnSpPr>
        <p:spPr>
          <a:xfrm flipH="1">
            <a:off x="6220918" y="5786203"/>
            <a:ext cx="1361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2DF665D3-F52B-31C2-E4F0-5B172CB076CC}"/>
              </a:ext>
            </a:extLst>
          </p:cNvPr>
          <p:cNvSpPr/>
          <p:nvPr/>
        </p:nvSpPr>
        <p:spPr>
          <a:xfrm>
            <a:off x="4058587" y="5385216"/>
            <a:ext cx="2162330" cy="8431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STRUCTURED JSON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5720570-B2C5-C3F6-53A7-CC4AF68E1453}"/>
              </a:ext>
            </a:extLst>
          </p:cNvPr>
          <p:cNvCxnSpPr>
            <a:stCxn id="52" idx="2"/>
          </p:cNvCxnSpPr>
          <p:nvPr/>
        </p:nvCxnSpPr>
        <p:spPr>
          <a:xfrm flipH="1">
            <a:off x="3462728" y="5806813"/>
            <a:ext cx="5958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1993A63-2EC5-4367-4FEB-D77C72D2DFDC}"/>
              </a:ext>
            </a:extLst>
          </p:cNvPr>
          <p:cNvSpPr/>
          <p:nvPr/>
        </p:nvSpPr>
        <p:spPr>
          <a:xfrm>
            <a:off x="1903751" y="5385216"/>
            <a:ext cx="1558976" cy="8431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DATABASE LAYER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30FD82B-7E3D-A010-5A5C-684EE62850EB}"/>
              </a:ext>
            </a:extLst>
          </p:cNvPr>
          <p:cNvSpPr/>
          <p:nvPr/>
        </p:nvSpPr>
        <p:spPr>
          <a:xfrm>
            <a:off x="322914" y="6014806"/>
            <a:ext cx="1331625" cy="8431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SQLite / PostgreSQL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908340A-055F-3B3C-D955-1C479FB68179}"/>
              </a:ext>
            </a:extLst>
          </p:cNvPr>
          <p:cNvCxnSpPr>
            <a:stCxn id="55" idx="2"/>
            <a:endCxn id="56" idx="7"/>
          </p:cNvCxnSpPr>
          <p:nvPr/>
        </p:nvCxnSpPr>
        <p:spPr>
          <a:xfrm flipH="1">
            <a:off x="1459527" y="5806813"/>
            <a:ext cx="444224" cy="331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D14AFBFD-4367-2F0E-913A-7797992EE00D}"/>
              </a:ext>
            </a:extLst>
          </p:cNvPr>
          <p:cNvSpPr/>
          <p:nvPr/>
        </p:nvSpPr>
        <p:spPr>
          <a:xfrm>
            <a:off x="6550702" y="1412823"/>
            <a:ext cx="5641298" cy="1862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Frontend: React + Tailwind CSS</a:t>
            </a:r>
          </a:p>
          <a:p>
            <a:r>
              <a:rPr lang="en-GB" dirty="0"/>
              <a:t>Backend: </a:t>
            </a:r>
            <a:r>
              <a:rPr lang="en-GB" dirty="0" err="1"/>
              <a:t>FastAPI</a:t>
            </a:r>
            <a:r>
              <a:rPr lang="en-GB" dirty="0"/>
              <a:t> + Python</a:t>
            </a:r>
          </a:p>
          <a:p>
            <a:r>
              <a:rPr lang="en-GB" dirty="0"/>
              <a:t>AI Engine: Google Gemini</a:t>
            </a:r>
          </a:p>
          <a:p>
            <a:r>
              <a:rPr lang="en-GB" dirty="0"/>
              <a:t>Agent Orchestration: </a:t>
            </a:r>
            <a:r>
              <a:rPr lang="en-GB" dirty="0" err="1"/>
              <a:t>LangGraph</a:t>
            </a:r>
            <a:endParaRPr lang="en-GB" dirty="0"/>
          </a:p>
          <a:p>
            <a:r>
              <a:rPr lang="en-GB" dirty="0"/>
              <a:t>Database: SQLite / PostgreSQL</a:t>
            </a:r>
          </a:p>
        </p:txBody>
      </p:sp>
    </p:spTree>
    <p:extLst>
      <p:ext uri="{BB962C8B-B14F-4D97-AF65-F5344CB8AC3E}">
        <p14:creationId xmlns:p14="http://schemas.microsoft.com/office/powerpoint/2010/main" val="12503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0F717-B481-B655-1832-D7DD50C1B36E}"/>
              </a:ext>
            </a:extLst>
          </p:cNvPr>
          <p:cNvSpPr/>
          <p:nvPr/>
        </p:nvSpPr>
        <p:spPr>
          <a:xfrm>
            <a:off x="0" y="0"/>
            <a:ext cx="12192000" cy="1573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IMPACT &amp; 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6669F-3CBA-77C1-65CD-9739F794F13E}"/>
              </a:ext>
            </a:extLst>
          </p:cNvPr>
          <p:cNvSpPr txBox="1"/>
          <p:nvPr/>
        </p:nvSpPr>
        <p:spPr>
          <a:xfrm>
            <a:off x="0" y="1678898"/>
            <a:ext cx="7839856" cy="352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• Proactive</a:t>
            </a:r>
          </a:p>
          <a:p>
            <a:r>
              <a:rPr lang="en-GB" dirty="0"/>
              <a:t>Finds architectural risks before deployment.</a:t>
            </a:r>
          </a:p>
          <a:p>
            <a:endParaRPr lang="en-GB" dirty="0"/>
          </a:p>
          <a:p>
            <a:r>
              <a:rPr lang="en-GB" dirty="0"/>
              <a:t>• Adversarial</a:t>
            </a:r>
          </a:p>
          <a:p>
            <a:r>
              <a:rPr lang="en-GB" dirty="0"/>
              <a:t>AI agents actively challenge design decisions instead of simply describing them.</a:t>
            </a:r>
          </a:p>
          <a:p>
            <a:endParaRPr lang="en-GB" dirty="0"/>
          </a:p>
          <a:p>
            <a:r>
              <a:rPr lang="en-GB" dirty="0"/>
              <a:t>• Interactive</a:t>
            </a:r>
          </a:p>
          <a:p>
            <a:r>
              <a:rPr lang="en-GB" dirty="0"/>
              <a:t>Students must defend their engineering decisions.</a:t>
            </a:r>
          </a:p>
          <a:p>
            <a:endParaRPr lang="en-GB" dirty="0"/>
          </a:p>
          <a:p>
            <a:r>
              <a:rPr lang="en-GB" dirty="0"/>
              <a:t>• Generative</a:t>
            </a:r>
          </a:p>
          <a:p>
            <a:r>
              <a:rPr lang="en-GB" dirty="0"/>
              <a:t>The system proposes an improved architecture, not just a list of problems.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C5D2D-6B91-F1E9-5347-6996A8C6A53E}"/>
              </a:ext>
            </a:extLst>
          </p:cNvPr>
          <p:cNvSpPr txBox="1"/>
          <p:nvPr/>
        </p:nvSpPr>
        <p:spPr>
          <a:xfrm>
            <a:off x="0" y="5372140"/>
            <a:ext cx="69104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DON'T JUST REVIEW</a:t>
            </a:r>
          </a:p>
          <a:p>
            <a:r>
              <a:rPr lang="en-GB" sz="2400" dirty="0"/>
              <a:t>YOUR ARCHITECTURE.</a:t>
            </a:r>
          </a:p>
          <a:p>
            <a:endParaRPr lang="en-GB" sz="2400" dirty="0"/>
          </a:p>
          <a:p>
            <a:r>
              <a:rPr lang="en-GB" sz="2400" dirty="0"/>
              <a:t>ATTACK 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FF4BE-A081-761B-6EA7-01F462A7EC7D}"/>
              </a:ext>
            </a:extLst>
          </p:cNvPr>
          <p:cNvSpPr txBox="1"/>
          <p:nvPr/>
        </p:nvSpPr>
        <p:spPr>
          <a:xfrm>
            <a:off x="9503764" y="6310859"/>
            <a:ext cx="2688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ARCHGUARD AI</a:t>
            </a:r>
          </a:p>
        </p:txBody>
      </p:sp>
    </p:spTree>
    <p:extLst>
      <p:ext uri="{BB962C8B-B14F-4D97-AF65-F5344CB8AC3E}">
        <p14:creationId xmlns:p14="http://schemas.microsoft.com/office/powerpoint/2010/main" val="2374097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0F717-B481-B655-1832-D7DD50C1B36E}"/>
              </a:ext>
            </a:extLst>
          </p:cNvPr>
          <p:cNvSpPr/>
          <p:nvPr/>
        </p:nvSpPr>
        <p:spPr>
          <a:xfrm>
            <a:off x="0" y="1"/>
            <a:ext cx="12192000" cy="521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Time to Defend: Live Demonstration</a:t>
            </a:r>
            <a:endParaRPr lang="en-GB" sz="3200" dirty="0"/>
          </a:p>
        </p:txBody>
      </p:sp>
      <p:pic>
        <p:nvPicPr>
          <p:cNvPr id="2" name="2026-09-17 17-34-29">
            <a:hlinkClick r:id="" action="ppaction://media"/>
            <a:extLst>
              <a:ext uri="{FF2B5EF4-FFF2-40B4-BE49-F238E27FC236}">
                <a16:creationId xmlns:a16="http://schemas.microsoft.com/office/drawing/2014/main" id="{819FA214-4430-BB80-B780-FB4E2636992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4350" y="521110"/>
            <a:ext cx="11163300" cy="633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9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7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0F717-B481-B655-1832-D7DD50C1B36E}"/>
              </a:ext>
            </a:extLst>
          </p:cNvPr>
          <p:cNvSpPr/>
          <p:nvPr/>
        </p:nvSpPr>
        <p:spPr>
          <a:xfrm>
            <a:off x="0" y="-9832"/>
            <a:ext cx="12192000" cy="6867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B304-614D-ED63-FCA1-E42DA85A6788}"/>
              </a:ext>
            </a:extLst>
          </p:cNvPr>
          <p:cNvSpPr txBox="1"/>
          <p:nvPr/>
        </p:nvSpPr>
        <p:spPr>
          <a:xfrm>
            <a:off x="3726423" y="5944447"/>
            <a:ext cx="473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Click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  <a:r>
              <a:rPr lang="en-US" sz="2400" dirty="0">
                <a:solidFill>
                  <a:schemeClr val="bg1"/>
                </a:solidFill>
              </a:rPr>
              <a:t> to go to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74A54-5725-D8E8-3258-316D2D830F39}"/>
              </a:ext>
            </a:extLst>
          </p:cNvPr>
          <p:cNvSpPr txBox="1"/>
          <p:nvPr/>
        </p:nvSpPr>
        <p:spPr>
          <a:xfrm>
            <a:off x="2025443" y="3859162"/>
            <a:ext cx="8141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DON'T JUST REVIEW YOUR ARCHITECTURE. </a:t>
            </a: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ATTACK 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97D76-9837-621B-9FEC-A8F5B3095F7B}"/>
              </a:ext>
            </a:extLst>
          </p:cNvPr>
          <p:cNvSpPr txBox="1"/>
          <p:nvPr/>
        </p:nvSpPr>
        <p:spPr>
          <a:xfrm>
            <a:off x="1460088" y="2235301"/>
            <a:ext cx="92718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THANK YOU</a:t>
            </a:r>
            <a:endParaRPr lang="en-GB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942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</TotalTime>
  <Words>568</Words>
  <Application>Microsoft Office PowerPoint</Application>
  <PresentationFormat>Widescreen</PresentationFormat>
  <Paragraphs>173</Paragraphs>
  <Slides>13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Gill Sans MT</vt:lpstr>
      <vt:lpstr>Office Theme</vt:lpstr>
      <vt:lpstr>PowerPoint Presentation</vt:lpstr>
      <vt:lpstr>this presentation was made possible by,</vt:lpstr>
      <vt:lpstr>PROBLEM</vt:lpstr>
      <vt:lpstr>PowerPoint Presentation</vt:lpstr>
      <vt:lpstr>HOW IT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Hegab</dc:creator>
  <cp:lastModifiedBy>Mohamed Ibrahim El-Noby Mohamed</cp:lastModifiedBy>
  <cp:revision>51</cp:revision>
  <dcterms:created xsi:type="dcterms:W3CDTF">2025-08-08T11:58:37Z</dcterms:created>
  <dcterms:modified xsi:type="dcterms:W3CDTF">2026-09-18T12:34:36Z</dcterms:modified>
</cp:coreProperties>
</file>